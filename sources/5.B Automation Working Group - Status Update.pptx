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Nuni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italic.fntdata"/><Relationship Id="rId6" Type="http://schemas.openxmlformats.org/officeDocument/2006/relationships/slide" Target="slides/slide1.xml"/><Relationship Id="rId18" Type="http://schemas.openxmlformats.org/officeDocument/2006/relationships/font" Target="fonts/Nuni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cf863dcd73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cf863dcd73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cf863dcd73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cf863dcd73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cf863dcd73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cf863dcd73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Territorial Pelagic Fishery Performance </a:t>
            </a:r>
            <a:endParaRPr/>
          </a:p>
          <a:p>
            <a:pPr indent="-298450" lvl="0" marL="457200" rtl="0" algn="l">
              <a:spcBef>
                <a:spcPts val="0"/>
              </a:spcBef>
              <a:spcAft>
                <a:spcPts val="0"/>
              </a:spcAft>
              <a:buSzPts val="1100"/>
              <a:buChar char="●"/>
            </a:pPr>
            <a:r>
              <a:rPr lang="en"/>
              <a:t>SQL scripts and applications are both listed because some outputs are generated </a:t>
            </a:r>
            <a:r>
              <a:rPr lang="en"/>
              <a:t>through</a:t>
            </a:r>
            <a:r>
              <a:rPr lang="en"/>
              <a:t> just SQL and other (figures) are generated through SQL scripts and a custom application.</a:t>
            </a:r>
            <a:endParaRPr/>
          </a:p>
          <a:p>
            <a:pPr indent="-298450" lvl="0" marL="457200" rtl="0" algn="l">
              <a:spcBef>
                <a:spcPts val="0"/>
              </a:spcBef>
              <a:spcAft>
                <a:spcPts val="0"/>
              </a:spcAft>
              <a:buSzPts val="1100"/>
              <a:buChar char="●"/>
            </a:pPr>
            <a:r>
              <a:rPr lang="en"/>
              <a:t>WPacFIN is currently updating data collection systems which will change how we freeze and summarize data. Changes to source data structures will affect any downstream processing.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02a50f3da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02a50f3da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Hawaii </a:t>
            </a:r>
            <a:r>
              <a:rPr lang="en"/>
              <a:t>Pelagic Fishery Performance </a:t>
            </a:r>
            <a:endParaRPr/>
          </a:p>
          <a:p>
            <a:pPr indent="-298450" lvl="0" marL="457200" rtl="0" algn="l">
              <a:spcBef>
                <a:spcPts val="0"/>
              </a:spcBef>
              <a:spcAft>
                <a:spcPts val="0"/>
              </a:spcAft>
              <a:buSzPts val="1100"/>
              <a:buChar char="●"/>
            </a:pPr>
            <a:r>
              <a:rPr lang="en"/>
              <a:t>Russ compiles the presentation and SAFE report figures for the Hawaii module</a:t>
            </a:r>
            <a:endParaRPr/>
          </a:p>
          <a:p>
            <a:pPr indent="-298450" lvl="0" marL="457200" rtl="0" algn="l">
              <a:spcBef>
                <a:spcPts val="0"/>
              </a:spcBef>
              <a:spcAft>
                <a:spcPts val="0"/>
              </a:spcAft>
              <a:buSzPts val="1100"/>
              <a:buChar char="●"/>
            </a:pPr>
            <a:r>
              <a:t/>
            </a:r>
            <a:endParaRPr/>
          </a:p>
          <a:p>
            <a:pPr indent="0" lvl="0" marL="0" rtl="0" algn="l">
              <a:spcBef>
                <a:spcPts val="0"/>
              </a:spcBef>
              <a:spcAft>
                <a:spcPts val="0"/>
              </a:spcAft>
              <a:buNone/>
            </a:pPr>
            <a:r>
              <a:rPr lang="en"/>
              <a:t>Fun fact!</a:t>
            </a:r>
            <a:endParaRPr/>
          </a:p>
          <a:p>
            <a:pPr indent="-298450" lvl="0" marL="457200" rtl="0" algn="l">
              <a:spcBef>
                <a:spcPts val="0"/>
              </a:spcBef>
              <a:spcAft>
                <a:spcPts val="0"/>
              </a:spcAft>
              <a:buSzPts val="1100"/>
              <a:buChar char="●"/>
            </a:pPr>
            <a:r>
              <a:rPr lang="en"/>
              <a:t>Speaking of automation, the flow diagrams were generated automatically using Mermaid Live Editor from input text.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cf863dcd73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cf863dcd73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233A44"/>
              </a:buClr>
              <a:buSzPts val="1300"/>
              <a:buFont typeface="Calibri"/>
              <a:buChar char="●"/>
            </a:pPr>
            <a:r>
              <a:rPr lang="en" sz="1300">
                <a:solidFill>
                  <a:srgbClr val="233A44"/>
                </a:solidFill>
                <a:latin typeface="Calibri"/>
                <a:ea typeface="Calibri"/>
                <a:cs typeface="Calibri"/>
                <a:sym typeface="Calibri"/>
              </a:rPr>
              <a:t>M</a:t>
            </a:r>
            <a:r>
              <a:rPr lang="en" sz="1300">
                <a:solidFill>
                  <a:srgbClr val="233A44"/>
                </a:solidFill>
                <a:latin typeface="Calibri"/>
                <a:ea typeface="Calibri"/>
                <a:cs typeface="Calibri"/>
                <a:sym typeface="Calibri"/>
              </a:rPr>
              <a:t>any mortality estimates for ITS comparison cannot be automated (Ryder)</a:t>
            </a:r>
            <a:endParaRPr sz="1300">
              <a:solidFill>
                <a:srgbClr val="233A44"/>
              </a:solidFill>
              <a:latin typeface="Calibri"/>
              <a:ea typeface="Calibri"/>
              <a:cs typeface="Calibri"/>
              <a:sym typeface="Calibri"/>
            </a:endParaRPr>
          </a:p>
          <a:p>
            <a:pPr indent="-311150" lvl="0" marL="457200" rtl="0" algn="l">
              <a:lnSpc>
                <a:spcPct val="115000"/>
              </a:lnSpc>
              <a:spcBef>
                <a:spcPts val="0"/>
              </a:spcBef>
              <a:spcAft>
                <a:spcPts val="0"/>
              </a:spcAft>
              <a:buClr>
                <a:srgbClr val="233A44"/>
              </a:buClr>
              <a:buSzPts val="1300"/>
              <a:buFont typeface="Calibri"/>
              <a:buChar char="●"/>
            </a:pPr>
            <a:r>
              <a:rPr lang="en" sz="1300">
                <a:solidFill>
                  <a:srgbClr val="233A44"/>
                </a:solidFill>
                <a:latin typeface="Calibri"/>
                <a:ea typeface="Calibri"/>
                <a:cs typeface="Calibri"/>
                <a:sym typeface="Calibri"/>
              </a:rPr>
              <a:t>Certain ITS comparison tables would be more difficult to automate than others (e.g. sea turtles and IFKW)</a:t>
            </a:r>
            <a:endParaRPr sz="1300">
              <a:solidFill>
                <a:srgbClr val="233A44"/>
              </a:solidFill>
              <a:latin typeface="Calibri"/>
              <a:ea typeface="Calibri"/>
              <a:cs typeface="Calibri"/>
              <a:sym typeface="Calibri"/>
            </a:endParaRPr>
          </a:p>
          <a:p>
            <a:pPr indent="-311150" lvl="0" marL="457200" rtl="0" algn="l">
              <a:lnSpc>
                <a:spcPct val="115000"/>
              </a:lnSpc>
              <a:spcBef>
                <a:spcPts val="0"/>
              </a:spcBef>
              <a:spcAft>
                <a:spcPts val="0"/>
              </a:spcAft>
              <a:buClr>
                <a:srgbClr val="233A44"/>
              </a:buClr>
              <a:buSzPts val="1300"/>
              <a:buFont typeface="Calibri"/>
              <a:buChar char="●"/>
            </a:pPr>
            <a:r>
              <a:rPr lang="en" sz="1300">
                <a:solidFill>
                  <a:srgbClr val="233A44"/>
                </a:solidFill>
                <a:latin typeface="Calibri"/>
                <a:ea typeface="Calibri"/>
                <a:cs typeface="Calibri"/>
                <a:sym typeface="Calibri"/>
              </a:rPr>
              <a:t>The pulling data directly path with data QC allows for annual database element assessment and corrections if identified. (this involves pulling same data from different views and tables where possible for a consistency comparison.)</a:t>
            </a:r>
            <a:endParaRPr sz="1300">
              <a:solidFill>
                <a:srgbClr val="233A44"/>
              </a:solidFill>
              <a:latin typeface="Calibri"/>
              <a:ea typeface="Calibri"/>
              <a:cs typeface="Calibri"/>
              <a:sym typeface="Calibri"/>
            </a:endParaRPr>
          </a:p>
          <a:p>
            <a:pPr indent="-311150" lvl="0" marL="457200" rtl="0" algn="l">
              <a:lnSpc>
                <a:spcPct val="115000"/>
              </a:lnSpc>
              <a:spcBef>
                <a:spcPts val="0"/>
              </a:spcBef>
              <a:spcAft>
                <a:spcPts val="0"/>
              </a:spcAft>
              <a:buClr>
                <a:srgbClr val="233A44"/>
              </a:buClr>
              <a:buSzPts val="1300"/>
              <a:buFont typeface="Calibri"/>
              <a:buChar char="●"/>
            </a:pPr>
            <a:r>
              <a:rPr lang="en" sz="1300">
                <a:solidFill>
                  <a:srgbClr val="233A44"/>
                </a:solidFill>
                <a:latin typeface="Calibri"/>
                <a:ea typeface="Calibri"/>
                <a:cs typeface="Calibri"/>
                <a:sym typeface="Calibri"/>
              </a:rPr>
              <a:t>Some data manipulation beyond the initial data pulls is required for some elements.  </a:t>
            </a:r>
            <a:endParaRPr sz="1300">
              <a:solidFill>
                <a:srgbClr val="233A44"/>
              </a:solidFill>
              <a:latin typeface="Calibri"/>
              <a:ea typeface="Calibri"/>
              <a:cs typeface="Calibri"/>
              <a:sym typeface="Calibri"/>
            </a:endParaRPr>
          </a:p>
          <a:p>
            <a:pPr indent="-311150" lvl="0" marL="457200" rtl="0" algn="l">
              <a:lnSpc>
                <a:spcPct val="115000"/>
              </a:lnSpc>
              <a:spcBef>
                <a:spcPts val="0"/>
              </a:spcBef>
              <a:spcAft>
                <a:spcPts val="0"/>
              </a:spcAft>
              <a:buClr>
                <a:srgbClr val="233A44"/>
              </a:buClr>
              <a:buSzPts val="1300"/>
              <a:buFont typeface="Calibri"/>
              <a:buChar char="●"/>
            </a:pPr>
            <a:r>
              <a:rPr lang="en" sz="1300">
                <a:solidFill>
                  <a:srgbClr val="233A44"/>
                </a:solidFill>
                <a:latin typeface="Calibri"/>
                <a:ea typeface="Calibri"/>
                <a:cs typeface="Calibri"/>
                <a:sym typeface="Calibri"/>
              </a:rPr>
              <a:t>A large portion of this module’s workflow includes significant review by a team of experts that weigh in on resulting data in updated tables (not shown in flow chart above). Automation for table updates on the front end would save managers time. Work team discussion however is valuable both as a forum for new information sharing and discussion of evolving trends and it should not be a goal to automate.</a:t>
            </a:r>
            <a:endParaRPr sz="1300">
              <a:solidFill>
                <a:srgbClr val="233A44"/>
              </a:solidFill>
              <a:latin typeface="Calibri"/>
              <a:ea typeface="Calibri"/>
              <a:cs typeface="Calibri"/>
              <a:sym typeface="Calibri"/>
            </a:endParaRPr>
          </a:p>
          <a:p>
            <a:pPr indent="-311150" lvl="0" marL="457200" rtl="0" algn="l">
              <a:lnSpc>
                <a:spcPct val="115000"/>
              </a:lnSpc>
              <a:spcBef>
                <a:spcPts val="0"/>
              </a:spcBef>
              <a:spcAft>
                <a:spcPts val="0"/>
              </a:spcAft>
              <a:buClr>
                <a:srgbClr val="233A44"/>
              </a:buClr>
              <a:buSzPts val="1300"/>
              <a:buFont typeface="Calibri"/>
              <a:buChar char="●"/>
            </a:pPr>
            <a:r>
              <a:rPr lang="en" sz="1300">
                <a:solidFill>
                  <a:srgbClr val="233A44"/>
                </a:solidFill>
                <a:latin typeface="Calibri"/>
                <a:ea typeface="Calibri"/>
                <a:cs typeface="Calibri"/>
                <a:sym typeface="Calibri"/>
              </a:rPr>
              <a:t>This section is also always evolving to include new reporting requirements to streamline or eliminate repetitive work and decrease admin burden.</a:t>
            </a:r>
            <a:endParaRPr sz="1300">
              <a:solidFill>
                <a:srgbClr val="233A44"/>
              </a:solidFill>
              <a:latin typeface="Calibri"/>
              <a:ea typeface="Calibri"/>
              <a:cs typeface="Calibri"/>
              <a:sym typeface="Calibri"/>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d17cb8d8f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d17cb8d8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cf863dcd73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cf863dcd73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02b14cad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02b14cad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cf863dcd73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cf863dcd73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d17a83a37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d17a83a37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github.com/NOAA-EDAB/SOE-NEFMC" TargetMode="External"/><Relationship Id="rId4" Type="http://schemas.openxmlformats.org/officeDocument/2006/relationships/hyperlink" Target="https://github.com/NOAA-EDAB/ecodata" TargetMode="External"/><Relationship Id="rId10" Type="http://schemas.openxmlformats.org/officeDocument/2006/relationships/hyperlink" Target="https://reports.psmfc.org/akfin/f?p=501:2000:5164793629000:::::" TargetMode="External"/><Relationship Id="rId9" Type="http://schemas.openxmlformats.org/officeDocument/2006/relationships/hyperlink" Target="https://reports.psmfc.org/akfin/f?p=501:2001:6981659303224:::::" TargetMode="External"/><Relationship Id="rId5" Type="http://schemas.openxmlformats.org/officeDocument/2006/relationships/hyperlink" Target="https://noaa-edab.github.io/tech-doc/" TargetMode="External"/><Relationship Id="rId6" Type="http://schemas.openxmlformats.org/officeDocument/2006/relationships/hyperlink" Target="https://www.fisheries.noaa.gov/new-england-mid-atlantic/ecosystems/state-ecosystem-reports-northeast-us-shelf" TargetMode="External"/><Relationship Id="rId7" Type="http://schemas.openxmlformats.org/officeDocument/2006/relationships/hyperlink" Target="https://apex.psmfc.org/pacfin/f?p=501:2001" TargetMode="External"/><Relationship Id="rId8" Type="http://schemas.openxmlformats.org/officeDocument/2006/relationships/hyperlink" Target="https://reports.psmfc.org/akfin/f?p=501:2500:6981659303224:::::"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nmfs-opensci.github.i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722700" y="1257300"/>
            <a:ext cx="5887200" cy="13146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PPT Working Group: Automation</a:t>
            </a:r>
            <a:endParaRPr/>
          </a:p>
        </p:txBody>
      </p:sp>
      <p:sp>
        <p:nvSpPr>
          <p:cNvPr id="129" name="Google Shape;129;p13"/>
          <p:cNvSpPr txBox="1"/>
          <p:nvPr>
            <p:ph idx="1" type="subTitle"/>
          </p:nvPr>
        </p:nvSpPr>
        <p:spPr>
          <a:xfrm>
            <a:off x="510450" y="3182325"/>
            <a:ext cx="3697500" cy="8949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Joint Archipelagic and Pelagic Plan Team Meeting</a:t>
            </a:r>
            <a:endParaRPr/>
          </a:p>
          <a:p>
            <a:pPr indent="0" lvl="0" marL="0" rtl="0" algn="ctr">
              <a:spcBef>
                <a:spcPts val="0"/>
              </a:spcBef>
              <a:spcAft>
                <a:spcPts val="0"/>
              </a:spcAft>
              <a:buNone/>
            </a:pPr>
            <a:r>
              <a:rPr lang="en"/>
              <a:t>May 15, 2024 </a:t>
            </a:r>
            <a:endParaRPr/>
          </a:p>
        </p:txBody>
      </p:sp>
      <p:pic>
        <p:nvPicPr>
          <p:cNvPr id="130" name="Google Shape;130;p13"/>
          <p:cNvPicPr preferRelativeResize="0"/>
          <p:nvPr/>
        </p:nvPicPr>
        <p:blipFill rotWithShape="1">
          <a:blip r:embed="rId3">
            <a:alphaModFix/>
          </a:blip>
          <a:srcRect b="0" l="7055" r="0" t="0"/>
          <a:stretch/>
        </p:blipFill>
        <p:spPr>
          <a:xfrm>
            <a:off x="5894475" y="3203025"/>
            <a:ext cx="1851075" cy="853500"/>
          </a:xfrm>
          <a:prstGeom prst="rect">
            <a:avLst/>
          </a:prstGeom>
          <a:noFill/>
          <a:ln>
            <a:noFill/>
          </a:ln>
        </p:spPr>
      </p:pic>
      <p:pic>
        <p:nvPicPr>
          <p:cNvPr id="131" name="Google Shape;131;p13"/>
          <p:cNvPicPr preferRelativeResize="0"/>
          <p:nvPr/>
        </p:nvPicPr>
        <p:blipFill>
          <a:blip r:embed="rId4">
            <a:alphaModFix/>
          </a:blip>
          <a:stretch>
            <a:fillRect/>
          </a:stretch>
        </p:blipFill>
        <p:spPr>
          <a:xfrm>
            <a:off x="4927900" y="3203025"/>
            <a:ext cx="853500" cy="85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Background</a:t>
            </a:r>
            <a:endParaRPr/>
          </a:p>
        </p:txBody>
      </p:sp>
      <p:sp>
        <p:nvSpPr>
          <p:cNvPr id="137" name="Google Shape;137;p14"/>
          <p:cNvSpPr txBox="1"/>
          <p:nvPr>
            <p:ph idx="1" type="body"/>
          </p:nvPr>
        </p:nvSpPr>
        <p:spPr>
          <a:xfrm>
            <a:off x="819150" y="1460700"/>
            <a:ext cx="7505700" cy="297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u="sng"/>
              <a:t>Plan Team work item from May 2023</a:t>
            </a:r>
            <a:r>
              <a:rPr lang="en" sz="1700"/>
              <a:t>: Form a working group to determine the feasibility of and opportunities for implementing automation in the annual SAFE report update process, including for updating the Council’s online portal for the annual SAFE reports. This working group will also determine an appropriate manner by which longer time series of fishery performance data can be incorporated.</a:t>
            </a:r>
            <a:endParaRPr sz="1700"/>
          </a:p>
          <a:p>
            <a:pPr indent="0" lvl="0" marL="0" rtl="0" algn="l">
              <a:spcBef>
                <a:spcPts val="1200"/>
              </a:spcBef>
              <a:spcAft>
                <a:spcPts val="0"/>
              </a:spcAft>
              <a:buNone/>
            </a:pPr>
            <a:r>
              <a:t/>
            </a:r>
            <a:endParaRPr sz="1700"/>
          </a:p>
          <a:p>
            <a:pPr indent="0" lvl="0" marL="0" rtl="0" algn="l">
              <a:spcBef>
                <a:spcPts val="1200"/>
              </a:spcBef>
              <a:spcAft>
                <a:spcPts val="1200"/>
              </a:spcAft>
              <a:buNone/>
            </a:pPr>
            <a:r>
              <a:rPr lang="en" sz="1700" u="sng"/>
              <a:t>Members</a:t>
            </a:r>
            <a:r>
              <a:rPr lang="en" sz="1700"/>
              <a:t>: Phoebe Woodworth-Jefcoats, Lynn Rassel, Melissa Snover, Jenny Suter, Thomas Remington, Council Staff</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5"/>
          <p:cNvSpPr txBox="1"/>
          <p:nvPr>
            <p:ph type="title"/>
          </p:nvPr>
        </p:nvSpPr>
        <p:spPr>
          <a:xfrm>
            <a:off x="819150" y="3173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Initial Discussions</a:t>
            </a:r>
            <a:endParaRPr/>
          </a:p>
        </p:txBody>
      </p:sp>
      <p:sp>
        <p:nvSpPr>
          <p:cNvPr id="143" name="Google Shape;143;p15"/>
          <p:cNvSpPr txBox="1"/>
          <p:nvPr>
            <p:ph idx="1" type="body"/>
          </p:nvPr>
        </p:nvSpPr>
        <p:spPr>
          <a:xfrm>
            <a:off x="666750" y="877975"/>
            <a:ext cx="7960500" cy="3086700"/>
          </a:xfrm>
          <a:prstGeom prst="rect">
            <a:avLst/>
          </a:prstGeom>
        </p:spPr>
        <p:txBody>
          <a:bodyPr anchorCtr="0" anchor="t" bIns="91425" lIns="91425" spcFirstLastPara="1" rIns="91425" wrap="square" tIns="91425">
            <a:noAutofit/>
          </a:bodyPr>
          <a:lstStyle/>
          <a:p>
            <a:pPr indent="-330200" lvl="0" marL="457200" rtl="0" algn="l">
              <a:lnSpc>
                <a:spcPct val="95000"/>
              </a:lnSpc>
              <a:spcBef>
                <a:spcPts val="0"/>
              </a:spcBef>
              <a:spcAft>
                <a:spcPts val="0"/>
              </a:spcAft>
              <a:buSzPts val="1600"/>
              <a:buChar char="●"/>
            </a:pPr>
            <a:r>
              <a:rPr lang="en" sz="1600"/>
              <a:t>Automating the updates for the </a:t>
            </a:r>
            <a:r>
              <a:rPr lang="en" sz="1600"/>
              <a:t>annual</a:t>
            </a:r>
            <a:r>
              <a:rPr lang="en" sz="1600"/>
              <a:t> reports will be an iterative, long-term process. </a:t>
            </a:r>
            <a:endParaRPr sz="1600"/>
          </a:p>
          <a:p>
            <a:pPr indent="-330200" lvl="0" marL="457200" rtl="0" algn="l">
              <a:lnSpc>
                <a:spcPct val="95000"/>
              </a:lnSpc>
              <a:spcBef>
                <a:spcPts val="0"/>
              </a:spcBef>
              <a:spcAft>
                <a:spcPts val="0"/>
              </a:spcAft>
              <a:buSzPts val="1600"/>
              <a:buChar char="●"/>
            </a:pPr>
            <a:r>
              <a:rPr lang="en" sz="1600"/>
              <a:t>Other regions have successfully implemented automation of various reports.</a:t>
            </a:r>
            <a:endParaRPr sz="1600"/>
          </a:p>
          <a:p>
            <a:pPr indent="-330200" lvl="1" marL="914400" rtl="0" algn="l">
              <a:lnSpc>
                <a:spcPct val="95000"/>
              </a:lnSpc>
              <a:spcBef>
                <a:spcPts val="0"/>
              </a:spcBef>
              <a:spcAft>
                <a:spcPts val="0"/>
              </a:spcAft>
              <a:buSzPts val="1600"/>
              <a:buChar char="○"/>
            </a:pPr>
            <a:r>
              <a:rPr lang="en" sz="1600"/>
              <a:t>e.g., State of the Ecosystem reports from NEFSC, PFMC SAFE</a:t>
            </a:r>
            <a:endParaRPr sz="1600"/>
          </a:p>
          <a:p>
            <a:pPr indent="-330200" lvl="0" marL="457200" rtl="0" algn="l">
              <a:lnSpc>
                <a:spcPct val="95000"/>
              </a:lnSpc>
              <a:spcBef>
                <a:spcPts val="0"/>
              </a:spcBef>
              <a:spcAft>
                <a:spcPts val="0"/>
              </a:spcAft>
              <a:buSzPts val="1600"/>
              <a:buChar char="●"/>
            </a:pPr>
            <a:r>
              <a:rPr lang="en" sz="1600"/>
              <a:t>Upside to having data warehouse from which all required </a:t>
            </a:r>
            <a:r>
              <a:rPr lang="en" sz="1600"/>
              <a:t>information</a:t>
            </a:r>
            <a:r>
              <a:rPr lang="en" sz="1600"/>
              <a:t> can be downloaded for annual updates.</a:t>
            </a:r>
            <a:endParaRPr sz="1600"/>
          </a:p>
          <a:p>
            <a:pPr indent="-330200" lvl="1" marL="914400" rtl="0" algn="l">
              <a:lnSpc>
                <a:spcPct val="95000"/>
              </a:lnSpc>
              <a:spcBef>
                <a:spcPts val="0"/>
              </a:spcBef>
              <a:spcAft>
                <a:spcPts val="0"/>
              </a:spcAft>
              <a:buSzPts val="1600"/>
              <a:buChar char="○"/>
            </a:pPr>
            <a:r>
              <a:rPr lang="en" sz="1600"/>
              <a:t>Long-term goal, as our </a:t>
            </a:r>
            <a:r>
              <a:rPr lang="en" sz="1600"/>
              <a:t>current</a:t>
            </a:r>
            <a:r>
              <a:rPr lang="en" sz="1600"/>
              <a:t> data are housed in many different </a:t>
            </a:r>
            <a:r>
              <a:rPr lang="en" sz="1600"/>
              <a:t>repositories</a:t>
            </a:r>
            <a:r>
              <a:rPr lang="en" sz="1600"/>
              <a:t>. </a:t>
            </a:r>
            <a:endParaRPr sz="1600"/>
          </a:p>
          <a:p>
            <a:pPr indent="-330200" lvl="0" marL="457200" rtl="0" algn="l">
              <a:lnSpc>
                <a:spcPct val="95000"/>
              </a:lnSpc>
              <a:spcBef>
                <a:spcPts val="0"/>
              </a:spcBef>
              <a:spcAft>
                <a:spcPts val="0"/>
              </a:spcAft>
              <a:buSzPts val="1600"/>
              <a:buChar char="●"/>
            </a:pPr>
            <a:r>
              <a:rPr lang="en" sz="1600"/>
              <a:t>Human input will still be required to perform QA/QC and explain data outputs.</a:t>
            </a:r>
            <a:endParaRPr sz="1600"/>
          </a:p>
          <a:p>
            <a:pPr indent="-330200" lvl="0" marL="457200" rtl="0" algn="l">
              <a:lnSpc>
                <a:spcPct val="95000"/>
              </a:lnSpc>
              <a:spcBef>
                <a:spcPts val="0"/>
              </a:spcBef>
              <a:spcAft>
                <a:spcPts val="0"/>
              </a:spcAft>
              <a:buSzPts val="1600"/>
              <a:buChar char="●"/>
            </a:pPr>
            <a:r>
              <a:rPr lang="en" sz="1600"/>
              <a:t>SAFE reports may need to be overhauled to focus on key components that can be automated.</a:t>
            </a:r>
            <a:endParaRPr sz="1600"/>
          </a:p>
          <a:p>
            <a:pPr indent="-330200" lvl="1" marL="914400" rtl="0" algn="l">
              <a:lnSpc>
                <a:spcPct val="95000"/>
              </a:lnSpc>
              <a:spcBef>
                <a:spcPts val="0"/>
              </a:spcBef>
              <a:spcAft>
                <a:spcPts val="0"/>
              </a:spcAft>
              <a:buSzPts val="1600"/>
              <a:buChar char="○"/>
            </a:pPr>
            <a:r>
              <a:rPr lang="en" sz="1600"/>
              <a:t>Evaluate what is required, what is advantageous, and what is perhaps not necessary to be in the SAFE reports (i.e., according to regulations, FEP provisions, and Biological Opinions etc.)</a:t>
            </a:r>
            <a:endParaRPr sz="1600"/>
          </a:p>
          <a:p>
            <a:pPr indent="-330200" lvl="0" marL="457200" rtl="0" algn="l">
              <a:lnSpc>
                <a:spcPct val="95000"/>
              </a:lnSpc>
              <a:spcBef>
                <a:spcPts val="0"/>
              </a:spcBef>
              <a:spcAft>
                <a:spcPts val="0"/>
              </a:spcAft>
              <a:buSzPts val="1600"/>
              <a:buChar char="●"/>
            </a:pPr>
            <a:r>
              <a:rPr lang="en" sz="1600"/>
              <a:t>Working group members decided to create flow charts of current processes for data summarization and incorporation into the annual reports to better identify steps that can be automated.</a:t>
            </a:r>
            <a:endParaRPr sz="1600"/>
          </a:p>
          <a:p>
            <a:pPr indent="-330200" lvl="1" marL="914400" rtl="0" algn="l">
              <a:lnSpc>
                <a:spcPct val="95000"/>
              </a:lnSpc>
              <a:spcBef>
                <a:spcPts val="0"/>
              </a:spcBef>
              <a:spcAft>
                <a:spcPts val="0"/>
              </a:spcAft>
              <a:buSzPts val="1600"/>
              <a:buChar char="○"/>
            </a:pPr>
            <a:r>
              <a:rPr lang="en" sz="1600"/>
              <a:t>Want to understand the current state of how the reports are manually updated to determine what’s simple or difficult to automate.</a:t>
            </a:r>
            <a:endParaRPr sz="1600"/>
          </a:p>
          <a:p>
            <a:pPr indent="-330200" lvl="1" marL="914400" rtl="0" algn="l">
              <a:lnSpc>
                <a:spcPct val="95000"/>
              </a:lnSpc>
              <a:spcBef>
                <a:spcPts val="0"/>
              </a:spcBef>
              <a:spcAft>
                <a:spcPts val="0"/>
              </a:spcAft>
              <a:buSzPts val="1600"/>
              <a:buChar char="○"/>
            </a:pPr>
            <a:r>
              <a:rPr lang="en" sz="1600"/>
              <a:t>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6"/>
          <p:cNvPicPr preferRelativeResize="0"/>
          <p:nvPr/>
        </p:nvPicPr>
        <p:blipFill rotWithShape="1">
          <a:blip r:embed="rId3">
            <a:alphaModFix/>
          </a:blip>
          <a:srcRect b="5978" l="9889" r="10034" t="6495"/>
          <a:stretch/>
        </p:blipFill>
        <p:spPr>
          <a:xfrm>
            <a:off x="3305900" y="333950"/>
            <a:ext cx="5608075" cy="4501950"/>
          </a:xfrm>
          <a:prstGeom prst="rect">
            <a:avLst/>
          </a:prstGeom>
          <a:noFill/>
          <a:ln>
            <a:noFill/>
          </a:ln>
        </p:spPr>
      </p:pic>
      <p:sp>
        <p:nvSpPr>
          <p:cNvPr id="149" name="Google Shape;149;p16"/>
          <p:cNvSpPr txBox="1"/>
          <p:nvPr>
            <p:ph idx="1" type="body"/>
          </p:nvPr>
        </p:nvSpPr>
        <p:spPr>
          <a:xfrm>
            <a:off x="590550" y="1450450"/>
            <a:ext cx="4064100" cy="252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Territory Pelagic Fishery Performance Modules</a:t>
            </a:r>
            <a:endParaRPr b="1" sz="1600"/>
          </a:p>
          <a:p>
            <a:pPr indent="-330200" lvl="0" marL="457200" rtl="0" algn="l">
              <a:spcBef>
                <a:spcPts val="1200"/>
              </a:spcBef>
              <a:spcAft>
                <a:spcPts val="0"/>
              </a:spcAft>
              <a:buSzPts val="1600"/>
              <a:buChar char="●"/>
            </a:pPr>
            <a:r>
              <a:rPr lang="en" sz="1600"/>
              <a:t>Mention how parts of the process are </a:t>
            </a:r>
            <a:r>
              <a:rPr lang="en" sz="1600"/>
              <a:t>already</a:t>
            </a:r>
            <a:r>
              <a:rPr lang="en" sz="1600"/>
              <a:t> automated internally by WPacFIN, lots of modernization projects, building new data warehouses, etc. </a:t>
            </a:r>
            <a:endParaRPr sz="1600"/>
          </a:p>
          <a:p>
            <a:pPr indent="-330200" lvl="0" marL="457200" rtl="0" algn="l">
              <a:spcBef>
                <a:spcPts val="0"/>
              </a:spcBef>
              <a:spcAft>
                <a:spcPts val="0"/>
              </a:spcAft>
              <a:buSzPts val="1600"/>
              <a:buChar char="●"/>
            </a:pPr>
            <a:r>
              <a:rPr lang="en" sz="1600"/>
              <a:t>Commercial data aspect already automated</a:t>
            </a:r>
            <a:endParaRPr sz="1600"/>
          </a:p>
        </p:txBody>
      </p:sp>
      <p:sp>
        <p:nvSpPr>
          <p:cNvPr id="150" name="Google Shape;150;p16"/>
          <p:cNvSpPr txBox="1"/>
          <p:nvPr>
            <p:ph type="title"/>
          </p:nvPr>
        </p:nvSpPr>
        <p:spPr>
          <a:xfrm>
            <a:off x="489050" y="450950"/>
            <a:ext cx="33852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Fishery Performance Data Flow Chart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7"/>
          <p:cNvSpPr txBox="1"/>
          <p:nvPr>
            <p:ph type="title"/>
          </p:nvPr>
        </p:nvSpPr>
        <p:spPr>
          <a:xfrm>
            <a:off x="819150" y="845600"/>
            <a:ext cx="33852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Fishery Performance Data Flow Chart</a:t>
            </a:r>
            <a:endParaRPr/>
          </a:p>
        </p:txBody>
      </p:sp>
      <p:sp>
        <p:nvSpPr>
          <p:cNvPr id="156" name="Google Shape;156;p17"/>
          <p:cNvSpPr txBox="1"/>
          <p:nvPr>
            <p:ph idx="1" type="body"/>
          </p:nvPr>
        </p:nvSpPr>
        <p:spPr>
          <a:xfrm>
            <a:off x="819150" y="1831450"/>
            <a:ext cx="4005900" cy="227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t>Hawaii Pelagic Fishery Performance Module</a:t>
            </a:r>
            <a:endParaRPr b="1" sz="1600"/>
          </a:p>
          <a:p>
            <a:pPr indent="-330200" lvl="0" marL="457200" rtl="0" algn="l">
              <a:spcBef>
                <a:spcPts val="1200"/>
              </a:spcBef>
              <a:spcAft>
                <a:spcPts val="0"/>
              </a:spcAft>
              <a:buSzPts val="1600"/>
              <a:buChar char="●"/>
            </a:pPr>
            <a:r>
              <a:rPr lang="en" sz="1600"/>
              <a:t>Data summarization is semi-automated through SQL scripts</a:t>
            </a:r>
            <a:endParaRPr sz="1600"/>
          </a:p>
          <a:p>
            <a:pPr indent="-330200" lvl="0" marL="457200" rtl="0" algn="l">
              <a:spcBef>
                <a:spcPts val="0"/>
              </a:spcBef>
              <a:spcAft>
                <a:spcPts val="0"/>
              </a:spcAft>
              <a:buSzPts val="1600"/>
              <a:buChar char="●"/>
            </a:pPr>
            <a:r>
              <a:rPr lang="en" sz="1600"/>
              <a:t>Figures </a:t>
            </a:r>
            <a:r>
              <a:rPr lang="en" sz="1600"/>
              <a:t>formatted</a:t>
            </a:r>
            <a:r>
              <a:rPr lang="en" sz="1600"/>
              <a:t> in Excel</a:t>
            </a:r>
            <a:endParaRPr sz="1600"/>
          </a:p>
        </p:txBody>
      </p:sp>
      <p:pic>
        <p:nvPicPr>
          <p:cNvPr id="157" name="Google Shape;157;p17"/>
          <p:cNvPicPr preferRelativeResize="0"/>
          <p:nvPr/>
        </p:nvPicPr>
        <p:blipFill>
          <a:blip r:embed="rId3">
            <a:alphaModFix/>
          </a:blip>
          <a:stretch>
            <a:fillRect/>
          </a:stretch>
        </p:blipFill>
        <p:spPr>
          <a:xfrm>
            <a:off x="4063575" y="381700"/>
            <a:ext cx="4558899" cy="43068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375750" y="4982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Protected Species Data Flow Chart</a:t>
            </a:r>
            <a:endParaRPr/>
          </a:p>
        </p:txBody>
      </p:sp>
      <p:sp>
        <p:nvSpPr>
          <p:cNvPr id="163" name="Google Shape;163;p1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t/>
            </a:r>
            <a:endParaRPr/>
          </a:p>
        </p:txBody>
      </p:sp>
      <p:pic>
        <p:nvPicPr>
          <p:cNvPr id="164" name="Google Shape;164;p18"/>
          <p:cNvPicPr preferRelativeResize="0"/>
          <p:nvPr/>
        </p:nvPicPr>
        <p:blipFill>
          <a:blip r:embed="rId3">
            <a:alphaModFix/>
          </a:blip>
          <a:stretch>
            <a:fillRect/>
          </a:stretch>
        </p:blipFill>
        <p:spPr>
          <a:xfrm>
            <a:off x="269500" y="1266750"/>
            <a:ext cx="8605000" cy="3248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292800" y="1193175"/>
            <a:ext cx="2895000" cy="137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00"/>
              <a:t>Oceanic and </a:t>
            </a:r>
            <a:br>
              <a:rPr lang="en" sz="2600"/>
            </a:br>
            <a:r>
              <a:rPr lang="en" sz="2600"/>
              <a:t>Climate Indicators</a:t>
            </a:r>
            <a:br>
              <a:rPr lang="en" sz="2600"/>
            </a:br>
            <a:r>
              <a:rPr lang="en" sz="2600"/>
              <a:t>Flow Chart</a:t>
            </a:r>
            <a:endParaRPr sz="2600"/>
          </a:p>
        </p:txBody>
      </p:sp>
      <p:sp>
        <p:nvSpPr>
          <p:cNvPr id="170" name="Google Shape;170;p19"/>
          <p:cNvSpPr txBox="1"/>
          <p:nvPr>
            <p:ph idx="1" type="body"/>
          </p:nvPr>
        </p:nvSpPr>
        <p:spPr>
          <a:xfrm>
            <a:off x="819150" y="2532525"/>
            <a:ext cx="4801500" cy="2019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Coded in R using Quarto</a:t>
            </a:r>
            <a:endParaRPr sz="1600"/>
          </a:p>
          <a:p>
            <a:pPr indent="-330200" lvl="0" marL="457200" rtl="0" algn="l">
              <a:spcBef>
                <a:spcPts val="0"/>
              </a:spcBef>
              <a:spcAft>
                <a:spcPts val="0"/>
              </a:spcAft>
              <a:buSzPts val="1600"/>
              <a:buChar char="●"/>
            </a:pPr>
            <a:r>
              <a:rPr lang="en" sz="1600"/>
              <a:t>Code generates:</a:t>
            </a:r>
            <a:endParaRPr sz="1600"/>
          </a:p>
          <a:p>
            <a:pPr indent="-330200" lvl="1" marL="914400" rtl="0" algn="l">
              <a:spcBef>
                <a:spcPts val="0"/>
              </a:spcBef>
              <a:spcAft>
                <a:spcPts val="0"/>
              </a:spcAft>
              <a:buSzPts val="1600"/>
              <a:buChar char="○"/>
            </a:pPr>
            <a:r>
              <a:rPr lang="en" sz="1600"/>
              <a:t>Formatted text in a Word doc</a:t>
            </a:r>
            <a:endParaRPr sz="1600"/>
          </a:p>
          <a:p>
            <a:pPr indent="-330200" lvl="1" marL="914400" rtl="0" algn="l">
              <a:spcBef>
                <a:spcPts val="0"/>
              </a:spcBef>
              <a:spcAft>
                <a:spcPts val="0"/>
              </a:spcAft>
              <a:buSzPts val="1600"/>
              <a:buChar char="○"/>
            </a:pPr>
            <a:r>
              <a:rPr lang="en" sz="1600"/>
              <a:t>All figures</a:t>
            </a:r>
            <a:endParaRPr sz="1600"/>
          </a:p>
          <a:p>
            <a:pPr indent="-330200" lvl="1" marL="914400" rtl="0" algn="l">
              <a:spcBef>
                <a:spcPts val="0"/>
              </a:spcBef>
              <a:spcAft>
                <a:spcPts val="0"/>
              </a:spcAft>
              <a:buSzPts val="1600"/>
              <a:buChar char="○"/>
            </a:pPr>
            <a:r>
              <a:rPr lang="en" sz="1600"/>
              <a:t>All data for portal and dashboard</a:t>
            </a:r>
            <a:endParaRPr sz="1600"/>
          </a:p>
          <a:p>
            <a:pPr indent="-330200" lvl="0" marL="457200" rtl="0" algn="l">
              <a:spcBef>
                <a:spcPts val="0"/>
              </a:spcBef>
              <a:spcAft>
                <a:spcPts val="0"/>
              </a:spcAft>
              <a:buSzPts val="1600"/>
              <a:buChar char="●"/>
            </a:pPr>
            <a:r>
              <a:rPr lang="en" sz="1600"/>
              <a:t>Publicly accessible on GitHub</a:t>
            </a:r>
            <a:endParaRPr sz="1600"/>
          </a:p>
          <a:p>
            <a:pPr indent="-330200" lvl="1" marL="914400" rtl="0" algn="l">
              <a:spcBef>
                <a:spcPts val="0"/>
              </a:spcBef>
              <a:spcAft>
                <a:spcPts val="0"/>
              </a:spcAft>
              <a:buSzPts val="1600"/>
              <a:buChar char="○"/>
            </a:pPr>
            <a:r>
              <a:rPr lang="en" sz="1600"/>
              <a:t>Easy collaboration</a:t>
            </a:r>
            <a:endParaRPr sz="1600"/>
          </a:p>
          <a:p>
            <a:pPr indent="-330200" lvl="1" marL="914400" rtl="0" algn="l">
              <a:spcBef>
                <a:spcPts val="0"/>
              </a:spcBef>
              <a:spcAft>
                <a:spcPts val="0"/>
              </a:spcAft>
              <a:buSzPts val="1600"/>
              <a:buChar char="○"/>
            </a:pPr>
            <a:r>
              <a:rPr lang="en" sz="1600"/>
              <a:t>Allows replication and error checking</a:t>
            </a:r>
            <a:endParaRPr sz="1600"/>
          </a:p>
        </p:txBody>
      </p:sp>
      <p:sp>
        <p:nvSpPr>
          <p:cNvPr id="171" name="Google Shape;171;p19"/>
          <p:cNvSpPr/>
          <p:nvPr/>
        </p:nvSpPr>
        <p:spPr>
          <a:xfrm>
            <a:off x="287700" y="346613"/>
            <a:ext cx="979800" cy="4119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Start</a:t>
            </a:r>
            <a:endParaRPr>
              <a:latin typeface="Calibri"/>
              <a:ea typeface="Calibri"/>
              <a:cs typeface="Calibri"/>
              <a:sym typeface="Calibri"/>
            </a:endParaRPr>
          </a:p>
        </p:txBody>
      </p:sp>
      <p:sp>
        <p:nvSpPr>
          <p:cNvPr id="172" name="Google Shape;172;p19"/>
          <p:cNvSpPr/>
          <p:nvPr/>
        </p:nvSpPr>
        <p:spPr>
          <a:xfrm>
            <a:off x="1427388" y="307638"/>
            <a:ext cx="1619250" cy="489875"/>
          </a:xfrm>
          <a:prstGeom prst="flowChartProcess">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Download publicly available data</a:t>
            </a:r>
            <a:endParaRPr>
              <a:latin typeface="Calibri"/>
              <a:ea typeface="Calibri"/>
              <a:cs typeface="Calibri"/>
              <a:sym typeface="Calibri"/>
            </a:endParaRPr>
          </a:p>
        </p:txBody>
      </p:sp>
      <p:sp>
        <p:nvSpPr>
          <p:cNvPr id="173" name="Google Shape;173;p19"/>
          <p:cNvSpPr/>
          <p:nvPr/>
        </p:nvSpPr>
        <p:spPr>
          <a:xfrm>
            <a:off x="3206550" y="283838"/>
            <a:ext cx="1217825" cy="537500"/>
          </a:xfrm>
          <a:prstGeom prst="flowChartManualInpu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Append year to file name</a:t>
            </a:r>
            <a:endParaRPr>
              <a:latin typeface="Calibri"/>
              <a:ea typeface="Calibri"/>
              <a:cs typeface="Calibri"/>
              <a:sym typeface="Calibri"/>
            </a:endParaRPr>
          </a:p>
        </p:txBody>
      </p:sp>
      <p:sp>
        <p:nvSpPr>
          <p:cNvPr id="174" name="Google Shape;174;p19"/>
          <p:cNvSpPr/>
          <p:nvPr/>
        </p:nvSpPr>
        <p:spPr>
          <a:xfrm>
            <a:off x="4584275" y="283813"/>
            <a:ext cx="1217825" cy="537500"/>
          </a:xfrm>
          <a:prstGeom prst="flowChartManualInpu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Update year in code</a:t>
            </a:r>
            <a:endParaRPr>
              <a:latin typeface="Calibri"/>
              <a:ea typeface="Calibri"/>
              <a:cs typeface="Calibri"/>
              <a:sym typeface="Calibri"/>
            </a:endParaRPr>
          </a:p>
        </p:txBody>
      </p:sp>
      <p:sp>
        <p:nvSpPr>
          <p:cNvPr id="175" name="Google Shape;175;p19"/>
          <p:cNvSpPr/>
          <p:nvPr/>
        </p:nvSpPr>
        <p:spPr>
          <a:xfrm>
            <a:off x="3264125" y="1253800"/>
            <a:ext cx="1164300" cy="489875"/>
          </a:xfrm>
          <a:prstGeom prst="flowChartProcess">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Run code</a:t>
            </a:r>
            <a:endParaRPr>
              <a:latin typeface="Calibri"/>
              <a:ea typeface="Calibri"/>
              <a:cs typeface="Calibri"/>
              <a:sym typeface="Calibri"/>
            </a:endParaRPr>
          </a:p>
        </p:txBody>
      </p:sp>
      <p:sp>
        <p:nvSpPr>
          <p:cNvPr id="176" name="Google Shape;176;p19"/>
          <p:cNvSpPr/>
          <p:nvPr/>
        </p:nvSpPr>
        <p:spPr>
          <a:xfrm>
            <a:off x="5165975" y="893213"/>
            <a:ext cx="2639775" cy="121105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Are there new aspects to the indicator this year?</a:t>
            </a:r>
            <a:endParaRPr>
              <a:latin typeface="Calibri"/>
              <a:ea typeface="Calibri"/>
              <a:cs typeface="Calibri"/>
              <a:sym typeface="Calibri"/>
            </a:endParaRPr>
          </a:p>
        </p:txBody>
      </p:sp>
      <p:sp>
        <p:nvSpPr>
          <p:cNvPr id="177" name="Google Shape;177;p19"/>
          <p:cNvSpPr/>
          <p:nvPr/>
        </p:nvSpPr>
        <p:spPr>
          <a:xfrm>
            <a:off x="7327450" y="1797525"/>
            <a:ext cx="1503575" cy="537500"/>
          </a:xfrm>
          <a:prstGeom prst="flowChartManualInpu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Edit descriptive text</a:t>
            </a:r>
            <a:endParaRPr>
              <a:latin typeface="Calibri"/>
              <a:ea typeface="Calibri"/>
              <a:cs typeface="Calibri"/>
              <a:sym typeface="Calibri"/>
            </a:endParaRPr>
          </a:p>
        </p:txBody>
      </p:sp>
      <p:sp>
        <p:nvSpPr>
          <p:cNvPr id="178" name="Google Shape;178;p19"/>
          <p:cNvSpPr/>
          <p:nvPr/>
        </p:nvSpPr>
        <p:spPr>
          <a:xfrm>
            <a:off x="7497088" y="2532525"/>
            <a:ext cx="1164300" cy="489875"/>
          </a:xfrm>
          <a:prstGeom prst="flowChartProcess">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Rerun code</a:t>
            </a:r>
            <a:endParaRPr>
              <a:latin typeface="Calibri"/>
              <a:ea typeface="Calibri"/>
              <a:cs typeface="Calibri"/>
              <a:sym typeface="Calibri"/>
            </a:endParaRPr>
          </a:p>
        </p:txBody>
      </p:sp>
      <p:sp>
        <p:nvSpPr>
          <p:cNvPr id="179" name="Google Shape;179;p19"/>
          <p:cNvSpPr/>
          <p:nvPr/>
        </p:nvSpPr>
        <p:spPr>
          <a:xfrm>
            <a:off x="5734075" y="2969900"/>
            <a:ext cx="1503575" cy="791825"/>
          </a:xfrm>
          <a:prstGeom prst="flowChartManualInpu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Paste</a:t>
            </a:r>
            <a:r>
              <a:rPr lang="en">
                <a:latin typeface="Calibri"/>
                <a:ea typeface="Calibri"/>
                <a:cs typeface="Calibri"/>
                <a:sym typeface="Calibri"/>
              </a:rPr>
              <a:t> code output into chapter Word doc</a:t>
            </a:r>
            <a:endParaRPr>
              <a:latin typeface="Calibri"/>
              <a:ea typeface="Calibri"/>
              <a:cs typeface="Calibri"/>
              <a:sym typeface="Calibri"/>
            </a:endParaRPr>
          </a:p>
        </p:txBody>
      </p:sp>
      <p:sp>
        <p:nvSpPr>
          <p:cNvPr id="180" name="Google Shape;180;p19"/>
          <p:cNvSpPr/>
          <p:nvPr/>
        </p:nvSpPr>
        <p:spPr>
          <a:xfrm>
            <a:off x="5903700" y="3887150"/>
            <a:ext cx="1164300" cy="489875"/>
          </a:xfrm>
          <a:prstGeom prst="flowChartProcess">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Push changes to GitHub</a:t>
            </a:r>
            <a:endParaRPr>
              <a:latin typeface="Calibri"/>
              <a:ea typeface="Calibri"/>
              <a:cs typeface="Calibri"/>
              <a:sym typeface="Calibri"/>
            </a:endParaRPr>
          </a:p>
        </p:txBody>
      </p:sp>
      <p:sp>
        <p:nvSpPr>
          <p:cNvPr id="181" name="Google Shape;181;p19"/>
          <p:cNvSpPr/>
          <p:nvPr/>
        </p:nvSpPr>
        <p:spPr>
          <a:xfrm>
            <a:off x="6108925" y="4502450"/>
            <a:ext cx="753840" cy="353754"/>
          </a:xfrm>
          <a:prstGeom prst="flowChartTerminato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End</a:t>
            </a:r>
            <a:endParaRPr>
              <a:latin typeface="Calibri"/>
              <a:ea typeface="Calibri"/>
              <a:cs typeface="Calibri"/>
              <a:sym typeface="Calibri"/>
            </a:endParaRPr>
          </a:p>
        </p:txBody>
      </p:sp>
      <p:cxnSp>
        <p:nvCxnSpPr>
          <p:cNvPr id="182" name="Google Shape;182;p19"/>
          <p:cNvCxnSpPr>
            <a:stCxn id="171" idx="6"/>
            <a:endCxn id="172" idx="1"/>
          </p:cNvCxnSpPr>
          <p:nvPr/>
        </p:nvCxnSpPr>
        <p:spPr>
          <a:xfrm>
            <a:off x="1267500" y="552563"/>
            <a:ext cx="159900" cy="0"/>
          </a:xfrm>
          <a:prstGeom prst="straightConnector1">
            <a:avLst/>
          </a:prstGeom>
          <a:noFill/>
          <a:ln cap="flat" cmpd="sng" w="9525">
            <a:solidFill>
              <a:srgbClr val="999999"/>
            </a:solidFill>
            <a:prstDash val="solid"/>
            <a:round/>
            <a:headEnd len="med" w="med" type="none"/>
            <a:tailEnd len="med" w="med" type="triangle"/>
          </a:ln>
        </p:spPr>
      </p:cxnSp>
      <p:cxnSp>
        <p:nvCxnSpPr>
          <p:cNvPr id="183" name="Google Shape;183;p19"/>
          <p:cNvCxnSpPr>
            <a:stCxn id="172" idx="3"/>
            <a:endCxn id="173" idx="1"/>
          </p:cNvCxnSpPr>
          <p:nvPr/>
        </p:nvCxnSpPr>
        <p:spPr>
          <a:xfrm>
            <a:off x="3046638" y="552575"/>
            <a:ext cx="159900" cy="0"/>
          </a:xfrm>
          <a:prstGeom prst="straightConnector1">
            <a:avLst/>
          </a:prstGeom>
          <a:noFill/>
          <a:ln cap="flat" cmpd="sng" w="9525">
            <a:solidFill>
              <a:srgbClr val="999999"/>
            </a:solidFill>
            <a:prstDash val="solid"/>
            <a:round/>
            <a:headEnd len="med" w="med" type="none"/>
            <a:tailEnd len="med" w="med" type="triangle"/>
          </a:ln>
        </p:spPr>
      </p:cxnSp>
      <p:cxnSp>
        <p:nvCxnSpPr>
          <p:cNvPr id="184" name="Google Shape;184;p19"/>
          <p:cNvCxnSpPr>
            <a:stCxn id="173" idx="3"/>
            <a:endCxn id="174" idx="1"/>
          </p:cNvCxnSpPr>
          <p:nvPr/>
        </p:nvCxnSpPr>
        <p:spPr>
          <a:xfrm>
            <a:off x="4424375" y="552588"/>
            <a:ext cx="159900" cy="0"/>
          </a:xfrm>
          <a:prstGeom prst="straightConnector1">
            <a:avLst/>
          </a:prstGeom>
          <a:noFill/>
          <a:ln cap="flat" cmpd="sng" w="9525">
            <a:solidFill>
              <a:srgbClr val="999999"/>
            </a:solidFill>
            <a:prstDash val="solid"/>
            <a:round/>
            <a:headEnd len="med" w="med" type="none"/>
            <a:tailEnd len="med" w="med" type="triangle"/>
          </a:ln>
        </p:spPr>
      </p:cxnSp>
      <p:cxnSp>
        <p:nvCxnSpPr>
          <p:cNvPr id="185" name="Google Shape;185;p19"/>
          <p:cNvCxnSpPr>
            <a:stCxn id="174" idx="2"/>
            <a:endCxn id="175" idx="0"/>
          </p:cNvCxnSpPr>
          <p:nvPr/>
        </p:nvCxnSpPr>
        <p:spPr>
          <a:xfrm rot="5400000">
            <a:off x="4303388" y="364113"/>
            <a:ext cx="432600" cy="1347000"/>
          </a:xfrm>
          <a:prstGeom prst="bentConnector3">
            <a:avLst>
              <a:gd fmla="val 49987" name="adj1"/>
            </a:avLst>
          </a:prstGeom>
          <a:noFill/>
          <a:ln cap="flat" cmpd="sng" w="9525">
            <a:solidFill>
              <a:srgbClr val="999999"/>
            </a:solidFill>
            <a:prstDash val="solid"/>
            <a:round/>
            <a:headEnd len="med" w="med" type="none"/>
            <a:tailEnd len="med" w="med" type="triangle"/>
          </a:ln>
        </p:spPr>
      </p:cxnSp>
      <p:cxnSp>
        <p:nvCxnSpPr>
          <p:cNvPr id="186" name="Google Shape;186;p19"/>
          <p:cNvCxnSpPr>
            <a:stCxn id="175" idx="3"/>
            <a:endCxn id="176" idx="1"/>
          </p:cNvCxnSpPr>
          <p:nvPr/>
        </p:nvCxnSpPr>
        <p:spPr>
          <a:xfrm>
            <a:off x="4428425" y="1498738"/>
            <a:ext cx="737700" cy="0"/>
          </a:xfrm>
          <a:prstGeom prst="straightConnector1">
            <a:avLst/>
          </a:prstGeom>
          <a:noFill/>
          <a:ln cap="flat" cmpd="sng" w="9525">
            <a:solidFill>
              <a:srgbClr val="999999"/>
            </a:solidFill>
            <a:prstDash val="solid"/>
            <a:round/>
            <a:headEnd len="med" w="med" type="none"/>
            <a:tailEnd len="med" w="med" type="triangle"/>
          </a:ln>
        </p:spPr>
      </p:cxnSp>
      <p:cxnSp>
        <p:nvCxnSpPr>
          <p:cNvPr id="187" name="Google Shape;187;p19"/>
          <p:cNvCxnSpPr>
            <a:stCxn id="176" idx="2"/>
            <a:endCxn id="179" idx="0"/>
          </p:cNvCxnSpPr>
          <p:nvPr/>
        </p:nvCxnSpPr>
        <p:spPr>
          <a:xfrm>
            <a:off x="6485863" y="2104263"/>
            <a:ext cx="0" cy="944700"/>
          </a:xfrm>
          <a:prstGeom prst="straightConnector1">
            <a:avLst/>
          </a:prstGeom>
          <a:noFill/>
          <a:ln cap="flat" cmpd="sng" w="9525">
            <a:solidFill>
              <a:srgbClr val="999999"/>
            </a:solidFill>
            <a:prstDash val="solid"/>
            <a:round/>
            <a:headEnd len="med" w="med" type="none"/>
            <a:tailEnd len="med" w="med" type="triangle"/>
          </a:ln>
        </p:spPr>
      </p:cxnSp>
      <p:cxnSp>
        <p:nvCxnSpPr>
          <p:cNvPr id="188" name="Google Shape;188;p19"/>
          <p:cNvCxnSpPr>
            <a:stCxn id="179" idx="2"/>
            <a:endCxn id="180" idx="0"/>
          </p:cNvCxnSpPr>
          <p:nvPr/>
        </p:nvCxnSpPr>
        <p:spPr>
          <a:xfrm>
            <a:off x="6485863" y="3761725"/>
            <a:ext cx="0" cy="125400"/>
          </a:xfrm>
          <a:prstGeom prst="straightConnector1">
            <a:avLst/>
          </a:prstGeom>
          <a:noFill/>
          <a:ln cap="flat" cmpd="sng" w="9525">
            <a:solidFill>
              <a:srgbClr val="999999"/>
            </a:solidFill>
            <a:prstDash val="solid"/>
            <a:round/>
            <a:headEnd len="med" w="med" type="none"/>
            <a:tailEnd len="med" w="med" type="triangle"/>
          </a:ln>
        </p:spPr>
      </p:cxnSp>
      <p:cxnSp>
        <p:nvCxnSpPr>
          <p:cNvPr id="189" name="Google Shape;189;p19"/>
          <p:cNvCxnSpPr>
            <a:endCxn id="181" idx="0"/>
          </p:cNvCxnSpPr>
          <p:nvPr/>
        </p:nvCxnSpPr>
        <p:spPr>
          <a:xfrm>
            <a:off x="6485845" y="4377050"/>
            <a:ext cx="0" cy="125400"/>
          </a:xfrm>
          <a:prstGeom prst="straightConnector1">
            <a:avLst/>
          </a:prstGeom>
          <a:noFill/>
          <a:ln cap="flat" cmpd="sng" w="9525">
            <a:solidFill>
              <a:srgbClr val="999999"/>
            </a:solidFill>
            <a:prstDash val="solid"/>
            <a:round/>
            <a:headEnd len="med" w="med" type="none"/>
            <a:tailEnd len="med" w="med" type="triangle"/>
          </a:ln>
        </p:spPr>
      </p:cxnSp>
      <p:cxnSp>
        <p:nvCxnSpPr>
          <p:cNvPr id="190" name="Google Shape;190;p19"/>
          <p:cNvCxnSpPr>
            <a:stCxn id="177" idx="2"/>
            <a:endCxn id="178" idx="0"/>
          </p:cNvCxnSpPr>
          <p:nvPr/>
        </p:nvCxnSpPr>
        <p:spPr>
          <a:xfrm>
            <a:off x="8079238" y="2335025"/>
            <a:ext cx="0" cy="197400"/>
          </a:xfrm>
          <a:prstGeom prst="straightConnector1">
            <a:avLst/>
          </a:prstGeom>
          <a:noFill/>
          <a:ln cap="flat" cmpd="sng" w="9525">
            <a:solidFill>
              <a:srgbClr val="999999"/>
            </a:solidFill>
            <a:prstDash val="solid"/>
            <a:round/>
            <a:headEnd len="med" w="med" type="none"/>
            <a:tailEnd len="med" w="med" type="triangle"/>
          </a:ln>
        </p:spPr>
      </p:cxnSp>
      <p:cxnSp>
        <p:nvCxnSpPr>
          <p:cNvPr id="191" name="Google Shape;191;p19"/>
          <p:cNvCxnSpPr>
            <a:stCxn id="176" idx="3"/>
            <a:endCxn id="177" idx="0"/>
          </p:cNvCxnSpPr>
          <p:nvPr/>
        </p:nvCxnSpPr>
        <p:spPr>
          <a:xfrm>
            <a:off x="7805750" y="1498738"/>
            <a:ext cx="273600" cy="352500"/>
          </a:xfrm>
          <a:prstGeom prst="bentConnector2">
            <a:avLst/>
          </a:prstGeom>
          <a:noFill/>
          <a:ln cap="flat" cmpd="sng" w="9525">
            <a:solidFill>
              <a:srgbClr val="999999"/>
            </a:solidFill>
            <a:prstDash val="solid"/>
            <a:round/>
            <a:headEnd len="med" w="med" type="none"/>
            <a:tailEnd len="med" w="med" type="triangle"/>
          </a:ln>
        </p:spPr>
      </p:cxnSp>
      <p:cxnSp>
        <p:nvCxnSpPr>
          <p:cNvPr id="192" name="Google Shape;192;p19"/>
          <p:cNvCxnSpPr>
            <a:stCxn id="178" idx="2"/>
            <a:endCxn id="179" idx="3"/>
          </p:cNvCxnSpPr>
          <p:nvPr/>
        </p:nvCxnSpPr>
        <p:spPr>
          <a:xfrm rot="5400000">
            <a:off x="7486738" y="2773400"/>
            <a:ext cx="343500" cy="841500"/>
          </a:xfrm>
          <a:prstGeom prst="bentConnector2">
            <a:avLst/>
          </a:prstGeom>
          <a:noFill/>
          <a:ln cap="flat" cmpd="sng" w="9525">
            <a:solidFill>
              <a:srgbClr val="999999"/>
            </a:solidFill>
            <a:prstDash val="solid"/>
            <a:round/>
            <a:headEnd len="med" w="med" type="none"/>
            <a:tailEnd len="med" w="med" type="triangle"/>
          </a:ln>
        </p:spPr>
      </p:cxnSp>
      <p:sp>
        <p:nvSpPr>
          <p:cNvPr id="193" name="Google Shape;193;p19"/>
          <p:cNvSpPr txBox="1"/>
          <p:nvPr/>
        </p:nvSpPr>
        <p:spPr>
          <a:xfrm>
            <a:off x="7762875" y="1193175"/>
            <a:ext cx="414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Yes</a:t>
            </a:r>
            <a:endParaRPr sz="1300">
              <a:solidFill>
                <a:schemeClr val="dk2"/>
              </a:solidFill>
              <a:latin typeface="Calibri"/>
              <a:ea typeface="Calibri"/>
              <a:cs typeface="Calibri"/>
              <a:sym typeface="Calibri"/>
            </a:endParaRPr>
          </a:p>
        </p:txBody>
      </p:sp>
      <p:sp>
        <p:nvSpPr>
          <p:cNvPr id="194" name="Google Shape;194;p19"/>
          <p:cNvSpPr txBox="1"/>
          <p:nvPr/>
        </p:nvSpPr>
        <p:spPr>
          <a:xfrm>
            <a:off x="6121850" y="2344638"/>
            <a:ext cx="414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No</a:t>
            </a:r>
            <a:endParaRPr sz="1300">
              <a:solidFill>
                <a:schemeClr val="dk2"/>
              </a:solidFill>
              <a:latin typeface="Calibri"/>
              <a:ea typeface="Calibri"/>
              <a:cs typeface="Calibri"/>
              <a:sym typeface="Calibri"/>
            </a:endParaRPr>
          </a:p>
        </p:txBody>
      </p:sp>
      <p:sp>
        <p:nvSpPr>
          <p:cNvPr id="195" name="Google Shape;195;p19"/>
          <p:cNvSpPr/>
          <p:nvPr/>
        </p:nvSpPr>
        <p:spPr>
          <a:xfrm>
            <a:off x="7871813" y="3219900"/>
            <a:ext cx="414882" cy="384912"/>
          </a:xfrm>
          <a:prstGeom prst="flowChartDocumen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96" name="Google Shape;196;p19"/>
          <p:cNvPicPr preferRelativeResize="0"/>
          <p:nvPr/>
        </p:nvPicPr>
        <p:blipFill>
          <a:blip r:embed="rId3">
            <a:alphaModFix/>
          </a:blip>
          <a:stretch>
            <a:fillRect/>
          </a:stretch>
        </p:blipFill>
        <p:spPr>
          <a:xfrm>
            <a:off x="7904225" y="3248210"/>
            <a:ext cx="273600" cy="239065"/>
          </a:xfrm>
          <a:prstGeom prst="rect">
            <a:avLst/>
          </a:prstGeom>
          <a:noFill/>
          <a:ln>
            <a:noFill/>
          </a:ln>
        </p:spPr>
      </p:pic>
      <p:pic>
        <p:nvPicPr>
          <p:cNvPr id="197" name="Google Shape;197;p19"/>
          <p:cNvPicPr preferRelativeResize="0"/>
          <p:nvPr/>
        </p:nvPicPr>
        <p:blipFill>
          <a:blip r:embed="rId4">
            <a:alphaModFix/>
          </a:blip>
          <a:stretch>
            <a:fillRect/>
          </a:stretch>
        </p:blipFill>
        <p:spPr>
          <a:xfrm>
            <a:off x="345528" y="2953175"/>
            <a:ext cx="414901" cy="321505"/>
          </a:xfrm>
          <a:prstGeom prst="rect">
            <a:avLst/>
          </a:prstGeom>
          <a:noFill/>
          <a:ln>
            <a:noFill/>
          </a:ln>
        </p:spPr>
      </p:pic>
      <p:pic>
        <p:nvPicPr>
          <p:cNvPr id="198" name="Google Shape;198;p19"/>
          <p:cNvPicPr preferRelativeResize="0"/>
          <p:nvPr/>
        </p:nvPicPr>
        <p:blipFill>
          <a:blip r:embed="rId3">
            <a:alphaModFix/>
          </a:blip>
          <a:stretch>
            <a:fillRect/>
          </a:stretch>
        </p:blipFill>
        <p:spPr>
          <a:xfrm>
            <a:off x="368996" y="3516422"/>
            <a:ext cx="367966" cy="321500"/>
          </a:xfrm>
          <a:prstGeom prst="rect">
            <a:avLst/>
          </a:prstGeom>
          <a:noFill/>
          <a:ln>
            <a:noFill/>
          </a:ln>
        </p:spPr>
      </p:pic>
      <p:pic>
        <p:nvPicPr>
          <p:cNvPr id="199" name="Google Shape;199;p19"/>
          <p:cNvPicPr preferRelativeResize="0"/>
          <p:nvPr/>
        </p:nvPicPr>
        <p:blipFill>
          <a:blip r:embed="rId5">
            <a:alphaModFix/>
          </a:blip>
          <a:stretch>
            <a:fillRect/>
          </a:stretch>
        </p:blipFill>
        <p:spPr>
          <a:xfrm>
            <a:off x="345545" y="4000850"/>
            <a:ext cx="414875" cy="414875"/>
          </a:xfrm>
          <a:prstGeom prst="rect">
            <a:avLst/>
          </a:prstGeom>
          <a:noFill/>
          <a:ln>
            <a:noFill/>
          </a:ln>
        </p:spPr>
      </p:pic>
      <p:sp>
        <p:nvSpPr>
          <p:cNvPr id="200" name="Google Shape;200;p19"/>
          <p:cNvSpPr/>
          <p:nvPr/>
        </p:nvSpPr>
        <p:spPr>
          <a:xfrm>
            <a:off x="4551788" y="1306313"/>
            <a:ext cx="414882" cy="384912"/>
          </a:xfrm>
          <a:prstGeom prst="flowChartDocumen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201" name="Google Shape;201;p19"/>
          <p:cNvPicPr preferRelativeResize="0"/>
          <p:nvPr/>
        </p:nvPicPr>
        <p:blipFill>
          <a:blip r:embed="rId3">
            <a:alphaModFix/>
          </a:blip>
          <a:stretch>
            <a:fillRect/>
          </a:stretch>
        </p:blipFill>
        <p:spPr>
          <a:xfrm>
            <a:off x="4584200" y="1334623"/>
            <a:ext cx="273600" cy="23906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0"/>
          <p:cNvSpPr txBox="1"/>
          <p:nvPr>
            <p:ph type="title"/>
          </p:nvPr>
        </p:nvSpPr>
        <p:spPr>
          <a:xfrm>
            <a:off x="819150" y="845600"/>
            <a:ext cx="77625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00"/>
              <a:t>Examples of Automation from Other Regions</a:t>
            </a:r>
            <a:endParaRPr sz="2900"/>
          </a:p>
        </p:txBody>
      </p:sp>
      <p:sp>
        <p:nvSpPr>
          <p:cNvPr id="207" name="Google Shape;207;p20"/>
          <p:cNvSpPr txBox="1"/>
          <p:nvPr>
            <p:ph idx="1" type="body"/>
          </p:nvPr>
        </p:nvSpPr>
        <p:spPr>
          <a:xfrm>
            <a:off x="731520" y="1645920"/>
            <a:ext cx="7505700" cy="2731200"/>
          </a:xfrm>
          <a:prstGeom prst="rect">
            <a:avLst/>
          </a:prstGeom>
        </p:spPr>
        <p:txBody>
          <a:bodyPr anchorCtr="0" anchor="t" bIns="91425" lIns="91425" spcFirstLastPara="1" rIns="91425" wrap="square" tIns="91425">
            <a:noAutofit/>
          </a:bodyPr>
          <a:lstStyle/>
          <a:p>
            <a:pPr indent="-336550" lvl="0" marL="457200" rtl="0" algn="l">
              <a:lnSpc>
                <a:spcPct val="95000"/>
              </a:lnSpc>
              <a:spcBef>
                <a:spcPts val="0"/>
              </a:spcBef>
              <a:spcAft>
                <a:spcPts val="0"/>
              </a:spcAft>
              <a:buSzPts val="1700"/>
              <a:buChar char="●"/>
            </a:pPr>
            <a:r>
              <a:rPr lang="en" sz="1700"/>
              <a:t>SAFE Reports from AFSC</a:t>
            </a:r>
            <a:endParaRPr sz="1700"/>
          </a:p>
          <a:p>
            <a:pPr indent="-336550" lvl="0" marL="457200" rtl="0" algn="l">
              <a:lnSpc>
                <a:spcPct val="95000"/>
              </a:lnSpc>
              <a:spcBef>
                <a:spcPts val="0"/>
              </a:spcBef>
              <a:spcAft>
                <a:spcPts val="0"/>
              </a:spcAft>
              <a:buSzPts val="1700"/>
              <a:buChar char="●"/>
            </a:pPr>
            <a:r>
              <a:rPr lang="en" sz="1700"/>
              <a:t>ESRs from NWFSC</a:t>
            </a:r>
            <a:endParaRPr sz="1700"/>
          </a:p>
          <a:p>
            <a:pPr indent="-336550" lvl="0" marL="457200" rtl="0" algn="l">
              <a:lnSpc>
                <a:spcPct val="95000"/>
              </a:lnSpc>
              <a:spcBef>
                <a:spcPts val="0"/>
              </a:spcBef>
              <a:spcAft>
                <a:spcPts val="0"/>
              </a:spcAft>
              <a:buSzPts val="1700"/>
              <a:buChar char="●"/>
            </a:pPr>
            <a:r>
              <a:rPr lang="en" sz="1700"/>
              <a:t>State of the Ecosystem Reports from NEFSC: </a:t>
            </a:r>
            <a:endParaRPr sz="1700"/>
          </a:p>
          <a:p>
            <a:pPr indent="-336550" lvl="1" marL="914400" rtl="0" algn="l">
              <a:lnSpc>
                <a:spcPct val="95000"/>
              </a:lnSpc>
              <a:spcBef>
                <a:spcPts val="0"/>
              </a:spcBef>
              <a:spcAft>
                <a:spcPts val="0"/>
              </a:spcAft>
              <a:buSzPts val="1700"/>
              <a:buChar char="○"/>
            </a:pPr>
            <a:r>
              <a:rPr lang="en" sz="1700" u="sng">
                <a:solidFill>
                  <a:schemeClr val="hlink"/>
                </a:solidFill>
                <a:hlinkClick r:id="rId3"/>
              </a:rPr>
              <a:t>GitHub</a:t>
            </a:r>
            <a:r>
              <a:rPr lang="en" sz="1700"/>
              <a:t> + </a:t>
            </a:r>
            <a:r>
              <a:rPr lang="en" sz="1700" u="sng">
                <a:solidFill>
                  <a:schemeClr val="hlink"/>
                </a:solidFill>
                <a:hlinkClick r:id="rId4"/>
              </a:rPr>
              <a:t>R data package</a:t>
            </a:r>
            <a:r>
              <a:rPr lang="en" sz="1700"/>
              <a:t> + </a:t>
            </a:r>
            <a:r>
              <a:rPr lang="en" sz="1700" u="sng">
                <a:solidFill>
                  <a:schemeClr val="hlink"/>
                </a:solidFill>
                <a:hlinkClick r:id="rId5"/>
              </a:rPr>
              <a:t>Technical Documentation</a:t>
            </a:r>
            <a:r>
              <a:rPr lang="en" sz="1700"/>
              <a:t> → </a:t>
            </a:r>
            <a:r>
              <a:rPr lang="en" sz="1700" u="sng">
                <a:solidFill>
                  <a:schemeClr val="hlink"/>
                </a:solidFill>
                <a:hlinkClick r:id="rId6"/>
              </a:rPr>
              <a:t>State of the Ecosystem Report</a:t>
            </a:r>
            <a:r>
              <a:rPr lang="en" sz="1700"/>
              <a:t> pdf (including summary frontmatter made by graphic designer)</a:t>
            </a:r>
            <a:endParaRPr sz="1700"/>
          </a:p>
          <a:p>
            <a:pPr indent="-336550" lvl="0" marL="457200" rtl="0" algn="l">
              <a:lnSpc>
                <a:spcPct val="95000"/>
              </a:lnSpc>
              <a:spcBef>
                <a:spcPts val="0"/>
              </a:spcBef>
              <a:spcAft>
                <a:spcPts val="0"/>
              </a:spcAft>
              <a:buSzPts val="1700"/>
              <a:buChar char="●"/>
            </a:pPr>
            <a:r>
              <a:rPr lang="en" sz="1700"/>
              <a:t>PFMC/</a:t>
            </a:r>
            <a:r>
              <a:rPr lang="en" sz="1700"/>
              <a:t>PSMFC SAFE Reports Apex</a:t>
            </a:r>
            <a:endParaRPr sz="1700"/>
          </a:p>
          <a:p>
            <a:pPr indent="-336550" lvl="1" marL="914400" rtl="0" algn="l">
              <a:lnSpc>
                <a:spcPct val="95000"/>
              </a:lnSpc>
              <a:spcBef>
                <a:spcPts val="0"/>
              </a:spcBef>
              <a:spcAft>
                <a:spcPts val="0"/>
              </a:spcAft>
              <a:buSzPts val="1700"/>
              <a:buChar char="○"/>
            </a:pPr>
            <a:r>
              <a:rPr lang="en" sz="1700" u="sng">
                <a:solidFill>
                  <a:schemeClr val="hlink"/>
                </a:solidFill>
                <a:hlinkClick r:id="rId7"/>
              </a:rPr>
              <a:t>Highly Migratory Species</a:t>
            </a:r>
            <a:endParaRPr sz="1700"/>
          </a:p>
          <a:p>
            <a:pPr indent="-336550" lvl="0" marL="457200" rtl="0" algn="l">
              <a:lnSpc>
                <a:spcPct val="95000"/>
              </a:lnSpc>
              <a:spcBef>
                <a:spcPts val="0"/>
              </a:spcBef>
              <a:spcAft>
                <a:spcPts val="0"/>
              </a:spcAft>
              <a:buSzPts val="1700"/>
              <a:buChar char="●"/>
            </a:pPr>
            <a:r>
              <a:rPr lang="en" sz="1700"/>
              <a:t>NPFMC/PSMFC (AKFIN) Reports</a:t>
            </a:r>
            <a:endParaRPr sz="1700"/>
          </a:p>
          <a:p>
            <a:pPr indent="-336550" lvl="1" marL="914400" rtl="0" algn="l">
              <a:lnSpc>
                <a:spcPct val="95000"/>
              </a:lnSpc>
              <a:spcBef>
                <a:spcPts val="0"/>
              </a:spcBef>
              <a:spcAft>
                <a:spcPts val="0"/>
              </a:spcAft>
              <a:buSzPts val="1700"/>
              <a:buChar char="○"/>
            </a:pPr>
            <a:r>
              <a:rPr lang="en" sz="1700" u="sng">
                <a:solidFill>
                  <a:schemeClr val="hlink"/>
                </a:solidFill>
                <a:hlinkClick r:id="rId8"/>
              </a:rPr>
              <a:t>Allocation Reviews</a:t>
            </a:r>
            <a:endParaRPr sz="1700"/>
          </a:p>
          <a:p>
            <a:pPr indent="-336550" lvl="1" marL="914400" rtl="0" algn="l">
              <a:lnSpc>
                <a:spcPct val="95000"/>
              </a:lnSpc>
              <a:spcBef>
                <a:spcPts val="0"/>
              </a:spcBef>
              <a:spcAft>
                <a:spcPts val="0"/>
              </a:spcAft>
              <a:buSzPts val="1700"/>
              <a:buChar char="○"/>
            </a:pPr>
            <a:r>
              <a:rPr lang="en" sz="1700" u="sng">
                <a:solidFill>
                  <a:schemeClr val="hlink"/>
                </a:solidFill>
                <a:hlinkClick r:id="rId9"/>
              </a:rPr>
              <a:t>Groundfish Economics SAFE</a:t>
            </a:r>
            <a:endParaRPr sz="1700"/>
          </a:p>
          <a:p>
            <a:pPr indent="-336550" lvl="1" marL="914400" rtl="0" algn="l">
              <a:lnSpc>
                <a:spcPct val="95000"/>
              </a:lnSpc>
              <a:spcBef>
                <a:spcPts val="0"/>
              </a:spcBef>
              <a:spcAft>
                <a:spcPts val="0"/>
              </a:spcAft>
              <a:buSzPts val="1700"/>
              <a:buChar char="○"/>
            </a:pPr>
            <a:r>
              <a:rPr lang="en" sz="1700" u="sng">
                <a:solidFill>
                  <a:schemeClr val="hlink"/>
                </a:solidFill>
                <a:hlinkClick r:id="rId10"/>
              </a:rPr>
              <a:t>Human Dimensions Data Explorer</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1"/>
          <p:cNvSpPr txBox="1"/>
          <p:nvPr>
            <p:ph type="title"/>
          </p:nvPr>
        </p:nvSpPr>
        <p:spPr>
          <a:xfrm>
            <a:off x="718650" y="192950"/>
            <a:ext cx="7753200" cy="771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Data Warehouse &amp; Automation</a:t>
            </a:r>
            <a:endParaRPr/>
          </a:p>
        </p:txBody>
      </p:sp>
      <p:pic>
        <p:nvPicPr>
          <p:cNvPr id="213" name="Google Shape;213;p21"/>
          <p:cNvPicPr preferRelativeResize="0"/>
          <p:nvPr/>
        </p:nvPicPr>
        <p:blipFill rotWithShape="1">
          <a:blip r:embed="rId3">
            <a:alphaModFix/>
          </a:blip>
          <a:srcRect b="36540" l="15703" r="22277" t="0"/>
          <a:stretch/>
        </p:blipFill>
        <p:spPr>
          <a:xfrm>
            <a:off x="661701" y="820200"/>
            <a:ext cx="7877051" cy="4028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Do We Go About Automation?</a:t>
            </a:r>
            <a:endParaRPr/>
          </a:p>
        </p:txBody>
      </p:sp>
      <p:sp>
        <p:nvSpPr>
          <p:cNvPr id="219" name="Google Shape;219;p22"/>
          <p:cNvSpPr txBox="1"/>
          <p:nvPr>
            <p:ph idx="1" type="body"/>
          </p:nvPr>
        </p:nvSpPr>
        <p:spPr>
          <a:xfrm>
            <a:off x="731520" y="1645925"/>
            <a:ext cx="7701600" cy="2773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Need to explore platforms that facilitate data informing report templates or API/website</a:t>
            </a:r>
            <a:endParaRPr sz="1600"/>
          </a:p>
          <a:p>
            <a:pPr indent="-330200" lvl="1" marL="914400" rtl="0" algn="l">
              <a:spcBef>
                <a:spcPts val="0"/>
              </a:spcBef>
              <a:spcAft>
                <a:spcPts val="0"/>
              </a:spcAft>
              <a:buSzPts val="1600"/>
              <a:buChar char="○"/>
            </a:pPr>
            <a:r>
              <a:rPr lang="en" sz="1600"/>
              <a:t>Replicable workflows?</a:t>
            </a:r>
            <a:endParaRPr sz="1600"/>
          </a:p>
          <a:p>
            <a:pPr indent="-330200" lvl="1" marL="914400" rtl="0" algn="l">
              <a:spcBef>
                <a:spcPts val="0"/>
              </a:spcBef>
              <a:spcAft>
                <a:spcPts val="0"/>
              </a:spcAft>
              <a:buSzPts val="1600"/>
              <a:buChar char="○"/>
            </a:pPr>
            <a:r>
              <a:rPr lang="en" sz="1600"/>
              <a:t>Templates or code packages?</a:t>
            </a:r>
            <a:endParaRPr sz="1600"/>
          </a:p>
          <a:p>
            <a:pPr indent="-330200" lvl="0" marL="457200" rtl="0" algn="l">
              <a:spcBef>
                <a:spcPts val="0"/>
              </a:spcBef>
              <a:spcAft>
                <a:spcPts val="0"/>
              </a:spcAft>
              <a:buSzPts val="1600"/>
              <a:buChar char="●"/>
            </a:pPr>
            <a:r>
              <a:rPr lang="en" sz="1600"/>
              <a:t>Comparable platforms exist in West Coast and Alaska data reporting systems; others?</a:t>
            </a:r>
            <a:endParaRPr sz="1600"/>
          </a:p>
          <a:p>
            <a:pPr indent="-330200" lvl="1" marL="914400" rtl="0" algn="l">
              <a:spcBef>
                <a:spcPts val="0"/>
              </a:spcBef>
              <a:spcAft>
                <a:spcPts val="0"/>
              </a:spcAft>
              <a:buSzPts val="1600"/>
              <a:buChar char="○"/>
            </a:pPr>
            <a:r>
              <a:rPr lang="en" sz="1600"/>
              <a:t>Common reporting systems?</a:t>
            </a:r>
            <a:endParaRPr sz="1600"/>
          </a:p>
          <a:p>
            <a:pPr indent="-330200" lvl="1" marL="914400" rtl="0" algn="l">
              <a:spcBef>
                <a:spcPts val="0"/>
              </a:spcBef>
              <a:spcAft>
                <a:spcPts val="0"/>
              </a:spcAft>
              <a:buSzPts val="1600"/>
              <a:buChar char="○"/>
            </a:pPr>
            <a:r>
              <a:rPr lang="en" sz="1600"/>
              <a:t>Data infrastructure?</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3"/>
          <p:cNvSpPr txBox="1"/>
          <p:nvPr>
            <p:ph type="title"/>
          </p:nvPr>
        </p:nvSpPr>
        <p:spPr>
          <a:xfrm>
            <a:off x="819150" y="2939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Next Steps</a:t>
            </a:r>
            <a:endParaRPr/>
          </a:p>
        </p:txBody>
      </p:sp>
      <p:sp>
        <p:nvSpPr>
          <p:cNvPr id="225" name="Google Shape;225;p23"/>
          <p:cNvSpPr txBox="1"/>
          <p:nvPr>
            <p:ph idx="1" type="body"/>
          </p:nvPr>
        </p:nvSpPr>
        <p:spPr>
          <a:xfrm>
            <a:off x="473950" y="895200"/>
            <a:ext cx="8414700" cy="3851400"/>
          </a:xfrm>
          <a:prstGeom prst="rect">
            <a:avLst/>
          </a:prstGeom>
        </p:spPr>
        <p:txBody>
          <a:bodyPr anchorCtr="0" anchor="t" bIns="91425" lIns="91425" spcFirstLastPara="1" rIns="91425" wrap="square" tIns="91425">
            <a:noAutofit/>
          </a:bodyPr>
          <a:lstStyle/>
          <a:p>
            <a:pPr indent="-320675" lvl="0" marL="457200" rtl="0" algn="l">
              <a:spcBef>
                <a:spcPts val="0"/>
              </a:spcBef>
              <a:spcAft>
                <a:spcPts val="0"/>
              </a:spcAft>
              <a:buSzPts val="1450"/>
              <a:buChar char="●"/>
            </a:pPr>
            <a:r>
              <a:rPr lang="en" sz="1450"/>
              <a:t>Identify low-hanging fruit for automation – what can we do now/soon?</a:t>
            </a:r>
            <a:endParaRPr sz="1450"/>
          </a:p>
          <a:p>
            <a:pPr indent="-320675" lvl="1" marL="914400" rtl="0" algn="l">
              <a:spcBef>
                <a:spcPts val="0"/>
              </a:spcBef>
              <a:spcAft>
                <a:spcPts val="0"/>
              </a:spcAft>
              <a:buSzPts val="1450"/>
              <a:buChar char="○"/>
            </a:pPr>
            <a:r>
              <a:rPr lang="en" sz="1450"/>
              <a:t>Inquiring with section authors about what parts of their reporting processes can be automated</a:t>
            </a:r>
            <a:endParaRPr sz="1450"/>
          </a:p>
          <a:p>
            <a:pPr indent="-320675" lvl="1" marL="914400" rtl="0" algn="l">
              <a:spcBef>
                <a:spcPts val="0"/>
              </a:spcBef>
              <a:spcAft>
                <a:spcPts val="0"/>
              </a:spcAft>
              <a:buSzPts val="1450"/>
              <a:buChar char="○"/>
            </a:pPr>
            <a:r>
              <a:rPr lang="en" sz="1450"/>
              <a:t>Determining if the reports can exist in a format other than Word/PDF files – something more easily linked to databases</a:t>
            </a:r>
            <a:endParaRPr sz="1450"/>
          </a:p>
          <a:p>
            <a:pPr indent="-320675" lvl="1" marL="914400" rtl="0" algn="l">
              <a:spcBef>
                <a:spcPts val="0"/>
              </a:spcBef>
              <a:spcAft>
                <a:spcPts val="0"/>
              </a:spcAft>
              <a:buSzPts val="1450"/>
              <a:buChar char="○"/>
            </a:pPr>
            <a:r>
              <a:rPr lang="en" sz="1450"/>
              <a:t>Replacing copy-and-paste with code-based approaches</a:t>
            </a:r>
            <a:endParaRPr sz="1450"/>
          </a:p>
          <a:p>
            <a:pPr indent="-320675" lvl="1" marL="914400" rtl="0" algn="l">
              <a:spcBef>
                <a:spcPts val="0"/>
              </a:spcBef>
              <a:spcAft>
                <a:spcPts val="0"/>
              </a:spcAft>
              <a:buSzPts val="1450"/>
              <a:buChar char="○"/>
            </a:pPr>
            <a:r>
              <a:rPr lang="en" sz="1450"/>
              <a:t>Utilizing existing code for current data summaries and linking it to a more comprehensive automation system</a:t>
            </a:r>
            <a:endParaRPr sz="1450"/>
          </a:p>
          <a:p>
            <a:pPr indent="-320675" lvl="1" marL="914400" rtl="0" algn="l">
              <a:spcBef>
                <a:spcPts val="0"/>
              </a:spcBef>
              <a:spcAft>
                <a:spcPts val="0"/>
              </a:spcAft>
              <a:buSzPts val="1450"/>
              <a:buChar char="○"/>
            </a:pPr>
            <a:r>
              <a:rPr lang="en" sz="1450"/>
              <a:t>Replicating </a:t>
            </a:r>
            <a:r>
              <a:rPr lang="en" sz="1450"/>
              <a:t>success</a:t>
            </a:r>
            <a:r>
              <a:rPr lang="en" sz="1450"/>
              <a:t> stories, e.g., RFMO automation and automated reporting from other regions</a:t>
            </a:r>
            <a:endParaRPr sz="1450"/>
          </a:p>
          <a:p>
            <a:pPr indent="-320675" lvl="0" marL="457200" rtl="0" algn="l">
              <a:spcBef>
                <a:spcPts val="0"/>
              </a:spcBef>
              <a:spcAft>
                <a:spcPts val="0"/>
              </a:spcAft>
              <a:buSzPts val="1450"/>
              <a:buChar char="●"/>
            </a:pPr>
            <a:r>
              <a:rPr lang="en" sz="1450"/>
              <a:t>Implementing automation</a:t>
            </a:r>
            <a:endParaRPr sz="1450"/>
          </a:p>
          <a:p>
            <a:pPr indent="-320675" lvl="1" marL="914400" rtl="0" algn="l">
              <a:spcBef>
                <a:spcPts val="0"/>
              </a:spcBef>
              <a:spcAft>
                <a:spcPts val="0"/>
              </a:spcAft>
              <a:buSzPts val="1450"/>
              <a:buChar char="○"/>
            </a:pPr>
            <a:r>
              <a:rPr lang="en" sz="1450"/>
              <a:t>Working directly with section authors</a:t>
            </a:r>
            <a:endParaRPr sz="1450"/>
          </a:p>
          <a:p>
            <a:pPr indent="-320675" lvl="1" marL="914400" rtl="0" algn="l">
              <a:spcBef>
                <a:spcPts val="0"/>
              </a:spcBef>
              <a:spcAft>
                <a:spcPts val="0"/>
              </a:spcAft>
              <a:buSzPts val="1450"/>
              <a:buChar char="○"/>
            </a:pPr>
            <a:r>
              <a:rPr lang="en" sz="1450" u="sng">
                <a:solidFill>
                  <a:schemeClr val="hlink"/>
                </a:solidFill>
                <a:hlinkClick r:id="rId3"/>
              </a:rPr>
              <a:t>NOAA Fisheries Open Science</a:t>
            </a:r>
            <a:r>
              <a:rPr lang="en" sz="1450"/>
              <a:t>: </a:t>
            </a:r>
            <a:r>
              <a:rPr lang="en" sz="1450"/>
              <a:t>reproducible</a:t>
            </a:r>
            <a:r>
              <a:rPr lang="en" sz="1450"/>
              <a:t>, transparent, and collaborative workflows</a:t>
            </a:r>
            <a:endParaRPr sz="1450"/>
          </a:p>
          <a:p>
            <a:pPr indent="-320675" lvl="0" marL="457200" rtl="0" algn="l">
              <a:spcBef>
                <a:spcPts val="0"/>
              </a:spcBef>
              <a:spcAft>
                <a:spcPts val="0"/>
              </a:spcAft>
              <a:buSzPts val="1450"/>
              <a:buChar char="●"/>
            </a:pPr>
            <a:r>
              <a:rPr lang="en" sz="1450"/>
              <a:t>Discussing presenting full time series prior to previous 10 years: Council data portal proposed as a repository</a:t>
            </a:r>
            <a:endParaRPr sz="1450"/>
          </a:p>
          <a:p>
            <a:pPr indent="-320675" lvl="1" marL="914400" rtl="0" algn="l">
              <a:spcBef>
                <a:spcPts val="0"/>
              </a:spcBef>
              <a:spcAft>
                <a:spcPts val="0"/>
              </a:spcAft>
              <a:buSzPts val="1450"/>
              <a:buChar char="○"/>
            </a:pPr>
            <a:r>
              <a:rPr lang="en" sz="1450"/>
              <a:t>Consensus?  Alternatives?</a:t>
            </a:r>
            <a:endParaRPr sz="1450"/>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